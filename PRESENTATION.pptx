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2" r:id="rId6"/>
    <p:sldId id="264" r:id="rId7"/>
    <p:sldId id="260" r:id="rId8"/>
    <p:sldId id="261" r:id="rId9"/>
    <p:sldId id="263" r:id="rId10"/>
    <p:sldId id="265" r:id="rId11"/>
    <p:sldId id="266" r:id="rId12"/>
    <p:sldId id="268" r:id="rId13"/>
    <p:sldId id="267"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279" autoAdjust="0"/>
    <p:restoredTop sz="94660"/>
  </p:normalViewPr>
  <p:slideViewPr>
    <p:cSldViewPr snapToGrid="0">
      <p:cViewPr varScale="1">
        <p:scale>
          <a:sx n="78" d="100"/>
          <a:sy n="78" d="100"/>
        </p:scale>
        <p:origin x="366"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242851"/>
            <a:ext cx="8968084"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9" name="Rectangle 8"/>
          <p:cNvSpPr/>
          <p:nvPr/>
        </p:nvSpPr>
        <p:spPr bwMode="ltGray">
          <a:xfrm>
            <a:off x="0" y="2590078"/>
            <a:ext cx="8968085"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9111715" y="2590078"/>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80322" y="2733709"/>
            <a:ext cx="8144134" cy="1373070"/>
          </a:xfrm>
        </p:spPr>
        <p:txBody>
          <a:bodyPr anchor="b">
            <a:noAutofit/>
          </a:bodyPr>
          <a:lstStyle>
            <a:lvl1pPr algn="r">
              <a:defRPr sz="5400"/>
            </a:lvl1pPr>
          </a:lstStyle>
          <a:p>
            <a:r>
              <a:rPr lang="en-US"/>
              <a:t>Click to edit Master title style</a:t>
            </a:r>
            <a:endParaRPr lang="en-US" dirty="0"/>
          </a:p>
        </p:txBody>
      </p:sp>
      <p:sp>
        <p:nvSpPr>
          <p:cNvPr id="3" name="Subtitle 2"/>
          <p:cNvSpPr>
            <a:spLocks noGrp="1"/>
          </p:cNvSpPr>
          <p:nvPr>
            <p:ph type="subTitle" idx="1"/>
          </p:nvPr>
        </p:nvSpPr>
        <p:spPr>
          <a:xfrm>
            <a:off x="680322" y="4394039"/>
            <a:ext cx="8144134" cy="1117687"/>
          </a:xfrm>
        </p:spPr>
        <p:txBody>
          <a:bodyPr>
            <a:norm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8ABE3C1-DBE1-495D-B57B-2849774B866A}" type="datetimeFigureOut">
              <a:rPr lang="en-US" dirty="0"/>
              <a:t>10/11/2020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9255346" y="2750337"/>
            <a:ext cx="1171888" cy="1356442"/>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2DE42F4-6EEF-4EF7-8ED4-2208F0F89A08}" type="datetimeFigureOut">
              <a:rPr lang="en-US" dirty="0"/>
              <a:t>10/11/2020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086907"/>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4" y="4087901"/>
            <a:ext cx="1602997" cy="144270"/>
          </a:xfrm>
          <a:prstGeom prst="rect">
            <a:avLst/>
          </a:prstGeom>
        </p:spPr>
      </p:pic>
      <p:sp>
        <p:nvSpPr>
          <p:cNvPr id="9" name="Rectangle 8"/>
          <p:cNvSpPr/>
          <p:nvPr/>
        </p:nvSpPr>
        <p:spPr bwMode="ltGray">
          <a:xfrm>
            <a:off x="-2" y="2726267"/>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5" y="2726267"/>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2869895"/>
            <a:ext cx="9613860" cy="1090788"/>
          </a:xfrm>
        </p:spPr>
        <p:txBody>
          <a:bodyPr anchor="ctr">
            <a:normAutofit/>
          </a:bodyPr>
          <a:lstStyle>
            <a:lvl1pPr algn="r">
              <a:defRPr sz="3600"/>
            </a:lvl1pPr>
          </a:lstStyle>
          <a:p>
            <a:r>
              <a:rPr lang="en-US"/>
              <a:t>Click to edit Master title style</a:t>
            </a:r>
            <a:endParaRPr lang="en-US" dirty="0"/>
          </a:p>
        </p:txBody>
      </p:sp>
      <p:sp>
        <p:nvSpPr>
          <p:cNvPr id="3" name="Text Placeholder 2"/>
          <p:cNvSpPr>
            <a:spLocks noGrp="1"/>
          </p:cNvSpPr>
          <p:nvPr>
            <p:ph type="body" idx="1"/>
          </p:nvPr>
        </p:nvSpPr>
        <p:spPr>
          <a:xfrm>
            <a:off x="680322" y="4232171"/>
            <a:ext cx="961386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0578ACC-22D6-47C1-A373-4FD133E34F3C}" type="datetimeFigureOut">
              <a:rPr lang="en-US" dirty="0"/>
              <a:t>10/11/2020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729455" y="2869895"/>
            <a:ext cx="1154151" cy="1090789"/>
          </a:xfrm>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0320" y="2336873"/>
            <a:ext cx="46983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594123" y="2336873"/>
            <a:ext cx="47000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E5A6C69-6797-4E8A-BF37-F2C3751466E9}" type="datetimeFigureOut">
              <a:rPr lang="en-US" dirty="0"/>
              <a:t>10/11/2020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1" name="Picture 10"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2" name="Rectangle 11"/>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753229"/>
            <a:ext cx="9613863" cy="1080937"/>
          </a:xfrm>
        </p:spPr>
        <p:txBody>
          <a:bodyPr/>
          <a:lstStyle/>
          <a:p>
            <a:r>
              <a:rPr lang="en-US"/>
              <a:t>Click to edit Master title style</a:t>
            </a:r>
            <a:endParaRPr lang="en-US" dirty="0"/>
          </a:p>
        </p:txBody>
      </p:sp>
      <p:sp>
        <p:nvSpPr>
          <p:cNvPr id="3" name="Text Placeholder 2"/>
          <p:cNvSpPr>
            <a:spLocks noGrp="1"/>
          </p:cNvSpPr>
          <p:nvPr>
            <p:ph type="body" idx="1"/>
          </p:nvPr>
        </p:nvSpPr>
        <p:spPr>
          <a:xfrm>
            <a:off x="906350" y="2336873"/>
            <a:ext cx="4472327"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0322" y="3030008"/>
            <a:ext cx="4698355"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820154" y="2336873"/>
            <a:ext cx="4474028"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594123" y="3030008"/>
            <a:ext cx="4700059"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82014A1-A632-4878-A0D3-F52BA7563730}" type="datetimeFigureOut">
              <a:rPr lang="en-US" dirty="0"/>
              <a:t>10/11/2020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7" name="Picture 6"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8" name="Rectangle 7"/>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E99F462-093F-4566-844B-4C71F2739DA5}" type="datetimeFigureOut">
              <a:rPr lang="en-US" dirty="0"/>
              <a:t>10/11/2020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HD-ShadowShor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6" name="Rectangle 5"/>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3D24A7AC-904D-4781-85BA-7D10C17ED021}" type="datetimeFigureOut">
              <a:rPr lang="en-US" dirty="0"/>
              <a:t>10/11/2020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1" y="753227"/>
            <a:ext cx="9613859" cy="1080940"/>
          </a:xfrm>
        </p:spPr>
        <p:txBody>
          <a:bodyPr anchor="ct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4685846" y="2336873"/>
            <a:ext cx="5608336" cy="35993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0322" y="2336872"/>
            <a:ext cx="3790078"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331444B-B92B-4E27-8C94-BB93EAF5CB18}" type="datetimeFigureOut">
              <a:rPr lang="en-US" dirty="0"/>
              <a:t>10/11/2020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3" y="753228"/>
            <a:ext cx="9613857" cy="1080938"/>
          </a:xfrm>
        </p:spPr>
        <p:txBody>
          <a:bodyPr anchor="ctr">
            <a:normAutofit/>
          </a:bodyPr>
          <a:lstStyle>
            <a:lvl1pPr>
              <a:defRPr sz="3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868333" y="2336874"/>
            <a:ext cx="5425849" cy="3599312"/>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0323" y="2336873"/>
            <a:ext cx="3876256" cy="3599315"/>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63EFA5E-FA76-400D-B3DC-F0BA90E6D107}" type="datetimeFigureOut">
              <a:rPr lang="en-US" dirty="0"/>
              <a:t>10/11/2020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4711616"/>
            <a:ext cx="9613859" cy="453051"/>
          </a:xfrm>
        </p:spPr>
        <p:txBody>
          <a:bodyPr anchor="b">
            <a:normAutofit/>
          </a:bodyPr>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0322" y="609597"/>
            <a:ext cx="9613859" cy="3589575"/>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0319" y="5169583"/>
            <a:ext cx="9613862" cy="62297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46C117F-5CCF-4837-BE5F-2B92066CAFAF}" type="datetimeFigureOut">
              <a:rPr lang="en-US" dirty="0"/>
              <a:t>10/11/2020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11309"/>
            <a:ext cx="1154151" cy="1090789"/>
          </a:xfrm>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609597"/>
            <a:ext cx="9613858" cy="3592750"/>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2" y="4711615"/>
            <a:ext cx="9613859" cy="1090789"/>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EB90BD-B6CE-46B7-997F-7313B992CCDC}" type="datetimeFigureOut">
              <a:rPr lang="en-US" dirty="0"/>
              <a:t>10/11/2020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11615"/>
            <a:ext cx="1154151" cy="1090789"/>
          </a:xfrm>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3" name="Picture 12"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4" name="Rectangle 13"/>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127856" y="609598"/>
            <a:ext cx="8718877" cy="3036061"/>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402288" y="3653379"/>
            <a:ext cx="815657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0322" y="4711615"/>
            <a:ext cx="9613859" cy="1090789"/>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DB9D11F-B188-461D-B23F-39381795C052}" type="datetimeFigureOut">
              <a:rPr lang="en-US" dirty="0"/>
              <a:t>10/11/2020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09925"/>
            <a:ext cx="1154151" cy="1090789"/>
          </a:xfrm>
        </p:spPr>
        <p:txBody>
          <a:bodyPr/>
          <a:lstStyle/>
          <a:p>
            <a:fld id="{6D22F896-40B5-4ADD-8801-0D06FADFA095}" type="slidenum">
              <a:rPr lang="en-US" dirty="0"/>
              <a:t>‹#›</a:t>
            </a:fld>
            <a:endParaRPr lang="en-US" dirty="0"/>
          </a:p>
        </p:txBody>
      </p:sp>
      <p:sp>
        <p:nvSpPr>
          <p:cNvPr id="16" name="TextBox 15"/>
          <p:cNvSpPr txBox="1"/>
          <p:nvPr/>
        </p:nvSpPr>
        <p:spPr>
          <a:xfrm>
            <a:off x="583572" y="74811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dirty="0">
                <a:solidFill>
                  <a:schemeClr val="tx1"/>
                </a:solidFill>
                <a:effectLst/>
              </a:rPr>
              <a:t>“</a:t>
            </a:r>
          </a:p>
        </p:txBody>
      </p:sp>
      <p:sp>
        <p:nvSpPr>
          <p:cNvPr id="17" name="TextBox 16"/>
          <p:cNvSpPr txBox="1"/>
          <p:nvPr/>
        </p:nvSpPr>
        <p:spPr>
          <a:xfrm>
            <a:off x="9662809" y="30335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9" name="Picture 8"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0" name="Picture 9"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1" name="Rectangle 10"/>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4711615"/>
            <a:ext cx="9613862" cy="5885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0" y="5300149"/>
            <a:ext cx="9613862" cy="50225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2E6D8D9-55A2-4063-B0F3-121F44549695}" type="datetimeFigureOut">
              <a:rPr lang="en-US" dirty="0"/>
              <a:t>10/11/2020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09925"/>
            <a:ext cx="1154151" cy="1090789"/>
          </a:xfrm>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4" name="Picture 13"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6" name="Rectangle 15"/>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itle 1"/>
          <p:cNvSpPr>
            <a:spLocks noGrp="1"/>
          </p:cNvSpPr>
          <p:nvPr>
            <p:ph type="title"/>
          </p:nvPr>
        </p:nvSpPr>
        <p:spPr>
          <a:xfrm>
            <a:off x="669222" y="753228"/>
            <a:ext cx="9624960" cy="1080938"/>
          </a:xfrm>
        </p:spPr>
        <p:txBody>
          <a:bodyPr/>
          <a:lstStyle/>
          <a:p>
            <a:r>
              <a:rPr lang="en-US"/>
              <a:t>Click to edit Master title style</a:t>
            </a:r>
            <a:endParaRPr lang="en-US" dirty="0"/>
          </a:p>
        </p:txBody>
      </p:sp>
      <p:sp>
        <p:nvSpPr>
          <p:cNvPr id="7" name="Text Placeholder 2"/>
          <p:cNvSpPr>
            <a:spLocks noGrp="1"/>
          </p:cNvSpPr>
          <p:nvPr>
            <p:ph type="body" idx="1"/>
          </p:nvPr>
        </p:nvSpPr>
        <p:spPr>
          <a:xfrm>
            <a:off x="660946" y="2336873"/>
            <a:ext cx="3070034"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0322" y="3022673"/>
            <a:ext cx="3049702"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956025" y="233687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945470" y="3022673"/>
            <a:ext cx="306324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224156" y="2336873"/>
            <a:ext cx="307002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224156" y="3022673"/>
            <a:ext cx="3070025"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D4B24536-994D-4021-A283-9F449C0DB509}" type="datetimeFigureOut">
              <a:rPr lang="en-US" dirty="0"/>
              <a:t>10/11/2020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itle 1"/>
          <p:cNvSpPr>
            <a:spLocks noGrp="1"/>
          </p:cNvSpPr>
          <p:nvPr>
            <p:ph type="title"/>
          </p:nvPr>
        </p:nvSpPr>
        <p:spPr>
          <a:xfrm>
            <a:off x="680322" y="753228"/>
            <a:ext cx="9613860" cy="1080938"/>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0318" y="4297503"/>
            <a:ext cx="30497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0318" y="2336873"/>
            <a:ext cx="30497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0318" y="4873765"/>
            <a:ext cx="3049705"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945471" y="429750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945470" y="2336873"/>
            <a:ext cx="306324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944117" y="4873764"/>
            <a:ext cx="306729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230678" y="4297503"/>
            <a:ext cx="30635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230677" y="2336873"/>
            <a:ext cx="30635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230553" y="4873762"/>
            <a:ext cx="3067563"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CBBBB78-C96F-47B7-AB17-D852CA960AC9}" type="datetimeFigureOut">
              <a:rPr lang="en-US" dirty="0"/>
              <a:t>10/11/2020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9" name="Rectangle 8"/>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lvl1pPr algn="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FA3F48C-C7C6-4055-9F49-3777875E72AE}" type="datetimeFigureOut">
              <a:rPr lang="en-US" dirty="0"/>
              <a:t>10/11/2020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bwMode="ltGray">
          <a:xfrm rot="5400000">
            <a:off x="8116207" y="1869395"/>
            <a:ext cx="5106988"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rot="5400000">
            <a:off x="9868202" y="5372403"/>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0129231" y="609597"/>
            <a:ext cx="1073802" cy="435376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0322" y="609597"/>
            <a:ext cx="8870004" cy="53265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807126" y="5936187"/>
            <a:ext cx="2743200" cy="365125"/>
          </a:xfrm>
        </p:spPr>
        <p:txBody>
          <a:bodyPr/>
          <a:lstStyle/>
          <a:p>
            <a:fld id="{6178E61D-D431-422C-9764-11DAFE33AB63}" type="datetimeFigureOut">
              <a:rPr lang="en-US" dirty="0"/>
              <a:t>10/11/2020</a:t>
            </a:fld>
            <a:endParaRPr lang="en-US" dirty="0"/>
          </a:p>
        </p:txBody>
      </p:sp>
      <p:sp>
        <p:nvSpPr>
          <p:cNvPr id="5" name="Footer Placeholder 4"/>
          <p:cNvSpPr>
            <a:spLocks noGrp="1"/>
          </p:cNvSpPr>
          <p:nvPr>
            <p:ph type="ftr" sz="quarter" idx="11"/>
          </p:nvPr>
        </p:nvSpPr>
        <p:spPr>
          <a:xfrm>
            <a:off x="680321" y="5936188"/>
            <a:ext cx="6126805" cy="365125"/>
          </a:xfrm>
        </p:spPr>
        <p:txBody>
          <a:bodyPr/>
          <a:lstStyle/>
          <a:p>
            <a:endParaRPr lang="en-US" dirty="0"/>
          </a:p>
        </p:txBody>
      </p:sp>
      <p:sp>
        <p:nvSpPr>
          <p:cNvPr id="6" name="Slide Number Placeholder 5"/>
          <p:cNvSpPr>
            <a:spLocks noGrp="1"/>
          </p:cNvSpPr>
          <p:nvPr>
            <p:ph type="sldNum" sz="quarter" idx="12"/>
          </p:nvPr>
        </p:nvSpPr>
        <p:spPr>
          <a:xfrm>
            <a:off x="10097550" y="5398633"/>
            <a:ext cx="1154151" cy="1090789"/>
          </a:xfrm>
        </p:spPr>
        <p:txBody>
          <a:bodyPr anchor="t"/>
          <a:lstStyle>
            <a:lvl1pPr algn="ctr">
              <a:defRPr/>
            </a:lvl1pPr>
          </a:lstStyle>
          <a:p>
            <a:fld id="{6D22F896-40B5-4ADD-8801-0D06FADFA09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6" descr="hashOverlay-FullResolve.png"/>
          <p:cNvPicPr>
            <a:picLocks noChangeAspect="1"/>
          </p:cNvPicPr>
          <p:nvPr/>
        </p:nvPicPr>
        <p:blipFill>
          <a:blip r:embed="rId19">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680321" y="753228"/>
            <a:ext cx="9613861" cy="108093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0321" y="2336873"/>
            <a:ext cx="9613861" cy="35993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0981" y="5936187"/>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9D6E9DEC-419B-4CC5-A080-3B06BD5A8291}" type="datetimeFigureOut">
              <a:rPr lang="en-US" dirty="0"/>
              <a:t>10/11/2020</a:t>
            </a:fld>
            <a:endParaRPr lang="en-US" dirty="0"/>
          </a:p>
        </p:txBody>
      </p:sp>
      <p:sp>
        <p:nvSpPr>
          <p:cNvPr id="5" name="Footer Placeholder 4"/>
          <p:cNvSpPr>
            <a:spLocks noGrp="1"/>
          </p:cNvSpPr>
          <p:nvPr>
            <p:ph type="ftr" sz="quarter" idx="3"/>
          </p:nvPr>
        </p:nvSpPr>
        <p:spPr>
          <a:xfrm>
            <a:off x="680321" y="5936188"/>
            <a:ext cx="687066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729455" y="753227"/>
            <a:ext cx="1154151" cy="1090789"/>
          </a:xfrm>
          <a:prstGeom prst="rect">
            <a:avLst/>
          </a:prstGeom>
        </p:spPr>
        <p:txBody>
          <a:bodyPr vert="horz" lIns="91440" tIns="45720" rIns="91440" bIns="45720" rtlCol="0" anchor="ctr"/>
          <a:lstStyle>
            <a:lvl1pPr algn="l">
              <a:defRPr sz="360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hf sldNum="0"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5224BE-2FC2-454D-9D59-D74BEE9D4E8C}"/>
              </a:ext>
            </a:extLst>
          </p:cNvPr>
          <p:cNvSpPr>
            <a:spLocks noGrp="1"/>
          </p:cNvSpPr>
          <p:nvPr>
            <p:ph type="ctrTitle"/>
          </p:nvPr>
        </p:nvSpPr>
        <p:spPr>
          <a:xfrm>
            <a:off x="-2203553" y="1558977"/>
            <a:ext cx="10831356" cy="4113435"/>
          </a:xfrm>
        </p:spPr>
        <p:txBody>
          <a:bodyPr/>
          <a:lstStyle/>
          <a:p>
            <a:pPr algn="ctr"/>
            <a:br>
              <a:rPr lang="en-US" dirty="0"/>
            </a:br>
            <a:br>
              <a:rPr lang="en-US" dirty="0"/>
            </a:br>
            <a:r>
              <a:rPr lang="en-US" dirty="0"/>
              <a:t>          Seattle Car Crash Severity  Prediction</a:t>
            </a:r>
            <a:br>
              <a:rPr lang="en-US" dirty="0"/>
            </a:br>
            <a:r>
              <a:rPr lang="en-US" dirty="0"/>
              <a:t>      </a:t>
            </a:r>
            <a:br>
              <a:rPr lang="en-US" dirty="0"/>
            </a:br>
            <a:r>
              <a:rPr lang="en-US" dirty="0"/>
              <a:t>                </a:t>
            </a:r>
          </a:p>
        </p:txBody>
      </p:sp>
      <p:sp>
        <p:nvSpPr>
          <p:cNvPr id="3" name="Subtitle 2">
            <a:extLst>
              <a:ext uri="{FF2B5EF4-FFF2-40B4-BE49-F238E27FC236}">
                <a16:creationId xmlns:a16="http://schemas.microsoft.com/office/drawing/2014/main" id="{C6A6AC36-5993-4A71-ACD6-59FE731F5BDE}"/>
              </a:ext>
            </a:extLst>
          </p:cNvPr>
          <p:cNvSpPr>
            <a:spLocks noGrp="1"/>
          </p:cNvSpPr>
          <p:nvPr>
            <p:ph type="subTitle" idx="1"/>
          </p:nvPr>
        </p:nvSpPr>
        <p:spPr>
          <a:xfrm>
            <a:off x="0" y="4740179"/>
            <a:ext cx="8144134" cy="1117687"/>
          </a:xfrm>
        </p:spPr>
        <p:txBody>
          <a:bodyPr>
            <a:normAutofit/>
          </a:bodyPr>
          <a:lstStyle/>
          <a:p>
            <a:r>
              <a:rPr lang="en-US" sz="4000" b="1" dirty="0">
                <a:solidFill>
                  <a:schemeClr val="bg1"/>
                </a:solidFill>
              </a:rPr>
              <a:t>CHRISTIANA MORRISON</a:t>
            </a:r>
          </a:p>
        </p:txBody>
      </p:sp>
    </p:spTree>
    <p:extLst>
      <p:ext uri="{BB962C8B-B14F-4D97-AF65-F5344CB8AC3E}">
        <p14:creationId xmlns:p14="http://schemas.microsoft.com/office/powerpoint/2010/main" val="22656765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F5A4B-BC54-4197-97A0-C3F9C68FD2AF}"/>
              </a:ext>
            </a:extLst>
          </p:cNvPr>
          <p:cNvSpPr>
            <a:spLocks noGrp="1"/>
          </p:cNvSpPr>
          <p:nvPr>
            <p:ph type="title"/>
          </p:nvPr>
        </p:nvSpPr>
        <p:spPr/>
        <p:txBody>
          <a:bodyPr>
            <a:normAutofit/>
          </a:bodyPr>
          <a:lstStyle/>
          <a:p>
            <a:r>
              <a:rPr lang="en-US" sz="5400" dirty="0"/>
              <a:t>           BACKGROUND</a:t>
            </a:r>
          </a:p>
        </p:txBody>
      </p:sp>
      <p:sp>
        <p:nvSpPr>
          <p:cNvPr id="3" name="Content Placeholder 2">
            <a:extLst>
              <a:ext uri="{FF2B5EF4-FFF2-40B4-BE49-F238E27FC236}">
                <a16:creationId xmlns:a16="http://schemas.microsoft.com/office/drawing/2014/main" id="{AA4CEDCE-7197-4271-9DDF-08C49D94327A}"/>
              </a:ext>
            </a:extLst>
          </p:cNvPr>
          <p:cNvSpPr>
            <a:spLocks noGrp="1"/>
          </p:cNvSpPr>
          <p:nvPr>
            <p:ph idx="1"/>
          </p:nvPr>
        </p:nvSpPr>
        <p:spPr>
          <a:xfrm>
            <a:off x="98855" y="1989437"/>
            <a:ext cx="10095470" cy="4596714"/>
          </a:xfrm>
        </p:spPr>
        <p:txBody>
          <a:bodyPr>
            <a:normAutofit/>
          </a:bodyPr>
          <a:lstStyle/>
          <a:p>
            <a:pPr marL="0" indent="0">
              <a:buNone/>
            </a:pPr>
            <a:r>
              <a:rPr lang="en-US" dirty="0"/>
              <a:t>Average number of car accidents in the U.S. every year is 6 million leaving more than 90 people dead in car accidents every day. 3 million people in the U.S. are injured every year in car accidents. Also, around 2 million drivers in car accidents experience permanent injuries every year.</a:t>
            </a:r>
          </a:p>
          <a:p>
            <a:pPr marL="0" indent="0">
              <a:buNone/>
            </a:pPr>
            <a:endParaRPr lang="en-US" dirty="0"/>
          </a:p>
          <a:p>
            <a:pPr marL="0" indent="0">
              <a:buNone/>
            </a:pPr>
            <a:r>
              <a:rPr lang="en-US" dirty="0"/>
              <a:t>Seattle like any other places in the US face this same problem but looks more rampant here. Accidents happen at all times, but if the main causes of accidents aren’t determined, advance warning or mitigating methods cannot be performed. For example, certain intersections may be more susceptible to accidents due to heavy use by vehicles, as a result, better lightening systems could be created on such streets.</a:t>
            </a:r>
          </a:p>
        </p:txBody>
      </p:sp>
    </p:spTree>
    <p:extLst>
      <p:ext uri="{BB962C8B-B14F-4D97-AF65-F5344CB8AC3E}">
        <p14:creationId xmlns:p14="http://schemas.microsoft.com/office/powerpoint/2010/main" val="33877671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6099ED-68DC-4179-BB1A-43D5771FF7D1}"/>
              </a:ext>
            </a:extLst>
          </p:cNvPr>
          <p:cNvSpPr>
            <a:spLocks noGrp="1"/>
          </p:cNvSpPr>
          <p:nvPr>
            <p:ph type="title"/>
          </p:nvPr>
        </p:nvSpPr>
        <p:spPr/>
        <p:txBody>
          <a:bodyPr/>
          <a:lstStyle/>
          <a:p>
            <a:r>
              <a:rPr lang="en-US" dirty="0"/>
              <a:t>PROBLEM &amp; TARGET AUDIENCE</a:t>
            </a:r>
          </a:p>
        </p:txBody>
      </p:sp>
      <p:sp>
        <p:nvSpPr>
          <p:cNvPr id="3" name="Content Placeholder 2">
            <a:extLst>
              <a:ext uri="{FF2B5EF4-FFF2-40B4-BE49-F238E27FC236}">
                <a16:creationId xmlns:a16="http://schemas.microsoft.com/office/drawing/2014/main" id="{16C53346-8EDB-415D-A5B1-C21DF68DCCCA}"/>
              </a:ext>
            </a:extLst>
          </p:cNvPr>
          <p:cNvSpPr>
            <a:spLocks noGrp="1"/>
          </p:cNvSpPr>
          <p:nvPr>
            <p:ph idx="1"/>
          </p:nvPr>
        </p:nvSpPr>
        <p:spPr>
          <a:xfrm>
            <a:off x="0" y="2026506"/>
            <a:ext cx="11379296" cy="5560542"/>
          </a:xfrm>
        </p:spPr>
        <p:txBody>
          <a:bodyPr>
            <a:noAutofit/>
          </a:bodyPr>
          <a:lstStyle/>
          <a:p>
            <a:pPr>
              <a:lnSpc>
                <a:spcPct val="100000"/>
              </a:lnSpc>
            </a:pPr>
            <a:r>
              <a:rPr lang="en-US" b="1" dirty="0">
                <a:solidFill>
                  <a:schemeClr val="bg1"/>
                </a:solidFill>
              </a:rPr>
              <a:t>The Problem</a:t>
            </a:r>
          </a:p>
          <a:p>
            <a:pPr marL="0" indent="0">
              <a:lnSpc>
                <a:spcPct val="100000"/>
              </a:lnSpc>
              <a:buNone/>
            </a:pPr>
            <a:r>
              <a:rPr lang="en-US" dirty="0"/>
              <a:t>The problem is Seattle has car accidents that can be prevented. We need to build a model to predict car accident severity can help commuters, professional drivers or logistic planners to reduce the personal and/or business impact of car accidents.</a:t>
            </a:r>
          </a:p>
          <a:p>
            <a:pPr marL="0" indent="0">
              <a:lnSpc>
                <a:spcPct val="100000"/>
              </a:lnSpc>
              <a:buNone/>
            </a:pPr>
            <a:endParaRPr lang="en-US" dirty="0"/>
          </a:p>
          <a:p>
            <a:pPr>
              <a:lnSpc>
                <a:spcPct val="100000"/>
              </a:lnSpc>
            </a:pPr>
            <a:r>
              <a:rPr lang="en-US" b="1" dirty="0">
                <a:solidFill>
                  <a:schemeClr val="bg1"/>
                </a:solidFill>
              </a:rPr>
              <a:t>TARGET AUDIENCE</a:t>
            </a:r>
          </a:p>
          <a:p>
            <a:pPr marL="0" indent="0">
              <a:lnSpc>
                <a:spcPct val="100000"/>
              </a:lnSpc>
              <a:buNone/>
            </a:pPr>
            <a:r>
              <a:rPr lang="en-US" dirty="0"/>
              <a:t>The target audience of this analysis is the Seattle government and transportation department. Key causes of accidents and trends for when accidents can be prevented.</a:t>
            </a:r>
          </a:p>
        </p:txBody>
      </p:sp>
    </p:spTree>
    <p:extLst>
      <p:ext uri="{BB962C8B-B14F-4D97-AF65-F5344CB8AC3E}">
        <p14:creationId xmlns:p14="http://schemas.microsoft.com/office/powerpoint/2010/main" val="20349753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EF2CE-2F6E-4E4A-A5CB-792C133493CF}"/>
              </a:ext>
            </a:extLst>
          </p:cNvPr>
          <p:cNvSpPr>
            <a:spLocks noGrp="1"/>
          </p:cNvSpPr>
          <p:nvPr>
            <p:ph type="title"/>
          </p:nvPr>
        </p:nvSpPr>
        <p:spPr>
          <a:xfrm>
            <a:off x="296910" y="666731"/>
            <a:ext cx="9613861" cy="1080938"/>
          </a:xfrm>
        </p:spPr>
        <p:txBody>
          <a:bodyPr>
            <a:normAutofit/>
          </a:bodyPr>
          <a:lstStyle/>
          <a:p>
            <a:r>
              <a:rPr lang="en-US" sz="4000" dirty="0"/>
              <a:t>Data Sources</a:t>
            </a:r>
          </a:p>
        </p:txBody>
      </p:sp>
      <p:sp>
        <p:nvSpPr>
          <p:cNvPr id="3" name="Content Placeholder 2">
            <a:extLst>
              <a:ext uri="{FF2B5EF4-FFF2-40B4-BE49-F238E27FC236}">
                <a16:creationId xmlns:a16="http://schemas.microsoft.com/office/drawing/2014/main" id="{CD07D77C-88D6-4329-9963-479CB7063370}"/>
              </a:ext>
            </a:extLst>
          </p:cNvPr>
          <p:cNvSpPr>
            <a:spLocks noGrp="1"/>
          </p:cNvSpPr>
          <p:nvPr>
            <p:ph idx="1"/>
          </p:nvPr>
        </p:nvSpPr>
        <p:spPr>
          <a:xfrm>
            <a:off x="111210" y="1895950"/>
            <a:ext cx="10960444" cy="4905632"/>
          </a:xfrm>
        </p:spPr>
        <p:txBody>
          <a:bodyPr>
            <a:normAutofit/>
          </a:bodyPr>
          <a:lstStyle/>
          <a:p>
            <a:pPr>
              <a:lnSpc>
                <a:spcPct val="150000"/>
              </a:lnSpc>
            </a:pPr>
            <a:r>
              <a:rPr lang="en-US" sz="2900" dirty="0"/>
              <a:t>The collisions data is recorded by Seattle Department of Transportation, Traffic Management Division, Traffic Records Group and maintained by ArcGIS and can be found in the Kaggle dataset here and the metadata can be found from here. </a:t>
            </a:r>
          </a:p>
          <a:p>
            <a:pPr>
              <a:lnSpc>
                <a:spcPct val="150000"/>
              </a:lnSpc>
            </a:pPr>
            <a:r>
              <a:rPr lang="en-US" sz="2900" dirty="0"/>
              <a:t>The collisions dataset includes all types of collisions from year 2004 to present.</a:t>
            </a:r>
          </a:p>
          <a:p>
            <a:endParaRPr lang="en-US" dirty="0"/>
          </a:p>
        </p:txBody>
      </p:sp>
    </p:spTree>
    <p:extLst>
      <p:ext uri="{BB962C8B-B14F-4D97-AF65-F5344CB8AC3E}">
        <p14:creationId xmlns:p14="http://schemas.microsoft.com/office/powerpoint/2010/main" val="8149550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EF2CE-2F6E-4E4A-A5CB-792C133493CF}"/>
              </a:ext>
            </a:extLst>
          </p:cNvPr>
          <p:cNvSpPr>
            <a:spLocks noGrp="1"/>
          </p:cNvSpPr>
          <p:nvPr>
            <p:ph type="title"/>
          </p:nvPr>
        </p:nvSpPr>
        <p:spPr/>
        <p:txBody>
          <a:bodyPr/>
          <a:lstStyle/>
          <a:p>
            <a:r>
              <a:rPr lang="en-US" dirty="0"/>
              <a:t>Data  Cleaning</a:t>
            </a:r>
          </a:p>
        </p:txBody>
      </p:sp>
      <p:sp>
        <p:nvSpPr>
          <p:cNvPr id="3" name="Content Placeholder 2">
            <a:extLst>
              <a:ext uri="{FF2B5EF4-FFF2-40B4-BE49-F238E27FC236}">
                <a16:creationId xmlns:a16="http://schemas.microsoft.com/office/drawing/2014/main" id="{CD07D77C-88D6-4329-9963-479CB7063370}"/>
              </a:ext>
            </a:extLst>
          </p:cNvPr>
          <p:cNvSpPr>
            <a:spLocks noGrp="1"/>
          </p:cNvSpPr>
          <p:nvPr>
            <p:ph idx="1"/>
          </p:nvPr>
        </p:nvSpPr>
        <p:spPr>
          <a:xfrm>
            <a:off x="0" y="1346886"/>
            <a:ext cx="10478529" cy="5511114"/>
          </a:xfrm>
        </p:spPr>
        <p:txBody>
          <a:bodyPr>
            <a:normAutofit fontScale="92500" lnSpcReduction="10000"/>
          </a:bodyPr>
          <a:lstStyle/>
          <a:p>
            <a:pPr marL="0" indent="0">
              <a:lnSpc>
                <a:spcPct val="150000"/>
              </a:lnSpc>
              <a:buNone/>
            </a:pPr>
            <a:r>
              <a:rPr lang="en-US" dirty="0"/>
              <a:t> </a:t>
            </a:r>
          </a:p>
          <a:p>
            <a:pPr>
              <a:lnSpc>
                <a:spcPct val="150000"/>
              </a:lnSpc>
            </a:pPr>
            <a:r>
              <a:rPr lang="en-US" dirty="0"/>
              <a:t>The data downloaded from the above-mentioned source was saved in a table. </a:t>
            </a:r>
          </a:p>
          <a:p>
            <a:pPr>
              <a:lnSpc>
                <a:spcPct val="150000"/>
              </a:lnSpc>
            </a:pPr>
            <a:r>
              <a:rPr lang="en-US" dirty="0"/>
              <a:t>There were many entries in the dataset which said that no person, pedestrian, cyclists or vehicles were involved in those collisions.</a:t>
            </a:r>
          </a:p>
          <a:p>
            <a:pPr>
              <a:lnSpc>
                <a:spcPct val="150000"/>
              </a:lnSpc>
            </a:pPr>
            <a:r>
              <a:rPr lang="en-US" dirty="0"/>
              <a:t> Analyzing such entries, a bit further they were found to be irrelevant and hence deleted from the dataset.</a:t>
            </a:r>
          </a:p>
          <a:p>
            <a:pPr>
              <a:lnSpc>
                <a:spcPct val="150000"/>
              </a:lnSpc>
            </a:pPr>
            <a:r>
              <a:rPr lang="en-US" dirty="0"/>
              <a:t>There were several columns (features) in the dataset that were added by various authorities to mainly identify the incident instance and were irrelevant to our final goal of developing a predictive model. Those columns were dropped. </a:t>
            </a:r>
          </a:p>
        </p:txBody>
      </p:sp>
    </p:spTree>
    <p:extLst>
      <p:ext uri="{BB962C8B-B14F-4D97-AF65-F5344CB8AC3E}">
        <p14:creationId xmlns:p14="http://schemas.microsoft.com/office/powerpoint/2010/main" val="9962541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EF2CE-2F6E-4E4A-A5CB-792C133493CF}"/>
              </a:ext>
            </a:extLst>
          </p:cNvPr>
          <p:cNvSpPr>
            <a:spLocks noGrp="1"/>
          </p:cNvSpPr>
          <p:nvPr>
            <p:ph type="title"/>
          </p:nvPr>
        </p:nvSpPr>
        <p:spPr/>
        <p:txBody>
          <a:bodyPr/>
          <a:lstStyle/>
          <a:p>
            <a:r>
              <a:rPr lang="en-US" dirty="0"/>
              <a:t>Data  Cleaning cont.</a:t>
            </a:r>
          </a:p>
        </p:txBody>
      </p:sp>
      <p:sp>
        <p:nvSpPr>
          <p:cNvPr id="3" name="Content Placeholder 2">
            <a:extLst>
              <a:ext uri="{FF2B5EF4-FFF2-40B4-BE49-F238E27FC236}">
                <a16:creationId xmlns:a16="http://schemas.microsoft.com/office/drawing/2014/main" id="{CD07D77C-88D6-4329-9963-479CB7063370}"/>
              </a:ext>
            </a:extLst>
          </p:cNvPr>
          <p:cNvSpPr>
            <a:spLocks noGrp="1"/>
          </p:cNvSpPr>
          <p:nvPr>
            <p:ph idx="1"/>
          </p:nvPr>
        </p:nvSpPr>
        <p:spPr>
          <a:xfrm>
            <a:off x="308919" y="1952368"/>
            <a:ext cx="9985263" cy="4905632"/>
          </a:xfrm>
        </p:spPr>
        <p:txBody>
          <a:bodyPr>
            <a:normAutofit/>
          </a:bodyPr>
          <a:lstStyle/>
          <a:p>
            <a:pPr marL="0" indent="0">
              <a:lnSpc>
                <a:spcPct val="200000"/>
              </a:lnSpc>
              <a:buNone/>
            </a:pPr>
            <a:r>
              <a:rPr lang="en-US" dirty="0"/>
              <a:t>Also we want our model to be independent of the exact locations of the collisions, therefore columns indicating the exact locations of the collisions were dropped and rather the columns describing the properties of such locations were kept. </a:t>
            </a:r>
          </a:p>
        </p:txBody>
      </p:sp>
    </p:spTree>
    <p:extLst>
      <p:ext uri="{BB962C8B-B14F-4D97-AF65-F5344CB8AC3E}">
        <p14:creationId xmlns:p14="http://schemas.microsoft.com/office/powerpoint/2010/main" val="26153458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A2ADB-1A34-4034-B939-88CE9003F807}"/>
              </a:ext>
            </a:extLst>
          </p:cNvPr>
          <p:cNvSpPr>
            <a:spLocks noGrp="1"/>
          </p:cNvSpPr>
          <p:nvPr>
            <p:ph type="title"/>
          </p:nvPr>
        </p:nvSpPr>
        <p:spPr>
          <a:xfrm>
            <a:off x="445542" y="1012720"/>
            <a:ext cx="9613861" cy="865507"/>
          </a:xfrm>
        </p:spPr>
        <p:txBody>
          <a:bodyPr>
            <a:normAutofit fontScale="90000"/>
          </a:bodyPr>
          <a:lstStyle/>
          <a:p>
            <a:r>
              <a:rPr lang="en-US" sz="4000" dirty="0"/>
              <a:t>Feature Selection</a:t>
            </a:r>
            <a:br>
              <a:rPr lang="en-US" dirty="0"/>
            </a:br>
            <a:endParaRPr lang="en-US" dirty="0"/>
          </a:p>
        </p:txBody>
      </p:sp>
      <p:sp>
        <p:nvSpPr>
          <p:cNvPr id="3" name="Content Placeholder 2">
            <a:extLst>
              <a:ext uri="{FF2B5EF4-FFF2-40B4-BE49-F238E27FC236}">
                <a16:creationId xmlns:a16="http://schemas.microsoft.com/office/drawing/2014/main" id="{5D2661D4-B72D-470F-B7CE-7095FB8C1FD0}"/>
              </a:ext>
            </a:extLst>
          </p:cNvPr>
          <p:cNvSpPr>
            <a:spLocks noGrp="1"/>
          </p:cNvSpPr>
          <p:nvPr>
            <p:ph idx="1"/>
          </p:nvPr>
        </p:nvSpPr>
        <p:spPr>
          <a:xfrm>
            <a:off x="445543" y="2014150"/>
            <a:ext cx="9848640" cy="4707925"/>
          </a:xfrm>
        </p:spPr>
        <p:txBody>
          <a:bodyPr>
            <a:normAutofit fontScale="85000" lnSpcReduction="10000"/>
          </a:bodyPr>
          <a:lstStyle/>
          <a:p>
            <a:pPr marL="0" indent="0">
              <a:lnSpc>
                <a:spcPct val="150000"/>
              </a:lnSpc>
              <a:buNone/>
            </a:pPr>
            <a:r>
              <a:rPr lang="en-US" dirty="0"/>
              <a:t>After data cleaning there were 201786 samples and 13 features in the cleaned data. To better select the features the Pearson correlation coefficient was calculated for the dataset to </a:t>
            </a:r>
            <a:r>
              <a:rPr lang="en-US" dirty="0" err="1"/>
              <a:t>getidea</a:t>
            </a:r>
            <a:r>
              <a:rPr lang="en-US" dirty="0"/>
              <a:t> about the extent to which the features were correlated to the target variable „SEVERITYCODE‟.</a:t>
            </a:r>
          </a:p>
          <a:p>
            <a:pPr marL="0" indent="0">
              <a:lnSpc>
                <a:spcPct val="150000"/>
              </a:lnSpc>
              <a:buNone/>
            </a:pPr>
            <a:r>
              <a:rPr lang="en-US" dirty="0"/>
              <a:t>Examining the Pearson correlation of different features with the target variable, none of the features displayed a high positive or negative correlation, with „PEDCOUNT‟ being the most positively correlated with a Pearson correlation coefficient of 0.28. This is understandable because none of the features contained continuous values and most of them were categorical and they were encoded into numerical values which were discrete in nature.</a:t>
            </a:r>
          </a:p>
          <a:p>
            <a:pPr marL="0" indent="0">
              <a:lnSpc>
                <a:spcPct val="150000"/>
              </a:lnSpc>
              <a:buNone/>
            </a:pPr>
            <a:endParaRPr lang="en-US" dirty="0"/>
          </a:p>
          <a:p>
            <a:pPr marL="0" indent="0">
              <a:lnSpc>
                <a:spcPct val="150000"/>
              </a:lnSpc>
              <a:buNone/>
            </a:pPr>
            <a:endParaRPr lang="en-US" dirty="0"/>
          </a:p>
        </p:txBody>
      </p:sp>
    </p:spTree>
    <p:extLst>
      <p:ext uri="{BB962C8B-B14F-4D97-AF65-F5344CB8AC3E}">
        <p14:creationId xmlns:p14="http://schemas.microsoft.com/office/powerpoint/2010/main" val="42735075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EF2CE-2F6E-4E4A-A5CB-792C133493CF}"/>
              </a:ext>
            </a:extLst>
          </p:cNvPr>
          <p:cNvSpPr>
            <a:spLocks noGrp="1"/>
          </p:cNvSpPr>
          <p:nvPr>
            <p:ph type="title"/>
          </p:nvPr>
        </p:nvSpPr>
        <p:spPr/>
        <p:txBody>
          <a:bodyPr/>
          <a:lstStyle/>
          <a:p>
            <a:r>
              <a:rPr lang="en-US" dirty="0"/>
              <a:t>PREDICTIVE MODELLING</a:t>
            </a:r>
          </a:p>
        </p:txBody>
      </p:sp>
      <p:sp>
        <p:nvSpPr>
          <p:cNvPr id="3" name="Content Placeholder 2">
            <a:extLst>
              <a:ext uri="{FF2B5EF4-FFF2-40B4-BE49-F238E27FC236}">
                <a16:creationId xmlns:a16="http://schemas.microsoft.com/office/drawing/2014/main" id="{CD07D77C-88D6-4329-9963-479CB7063370}"/>
              </a:ext>
            </a:extLst>
          </p:cNvPr>
          <p:cNvSpPr>
            <a:spLocks noGrp="1"/>
          </p:cNvSpPr>
          <p:nvPr>
            <p:ph idx="1"/>
          </p:nvPr>
        </p:nvSpPr>
        <p:spPr>
          <a:xfrm>
            <a:off x="308919" y="1952368"/>
            <a:ext cx="9985263" cy="4905632"/>
          </a:xfrm>
        </p:spPr>
        <p:txBody>
          <a:bodyPr>
            <a:normAutofit lnSpcReduction="10000"/>
          </a:bodyPr>
          <a:lstStyle/>
          <a:p>
            <a:pPr marL="0" indent="0">
              <a:lnSpc>
                <a:spcPct val="150000"/>
              </a:lnSpc>
              <a:buNone/>
            </a:pPr>
            <a:r>
              <a:rPr lang="en-US" dirty="0"/>
              <a:t>Our objective in this project was to build a machine learning model that could predict/foretell the severity level of a future accident given a feature set instance. The severity of an accident was given by five different labels/classes namely, „3‟, „2‟, „2b‟, „1‟ and „0‟. So there were multiple labels/classes there in our target variable „SEVERITYCODE” in our dataset. So this problem fell into the category of “Multi-class Classification”. Therefore, I built several classification models using different classification algorithms and the model with the highest accuracy can be selected for implementation.</a:t>
            </a:r>
          </a:p>
        </p:txBody>
      </p:sp>
    </p:spTree>
    <p:extLst>
      <p:ext uri="{BB962C8B-B14F-4D97-AF65-F5344CB8AC3E}">
        <p14:creationId xmlns:p14="http://schemas.microsoft.com/office/powerpoint/2010/main" val="8606644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427E5-E8D9-449F-994A-0ED2EE503824}"/>
              </a:ext>
            </a:extLst>
          </p:cNvPr>
          <p:cNvSpPr>
            <a:spLocks noGrp="1"/>
          </p:cNvSpPr>
          <p:nvPr>
            <p:ph type="title"/>
          </p:nvPr>
        </p:nvSpPr>
        <p:spPr>
          <a:xfrm>
            <a:off x="680321" y="889153"/>
            <a:ext cx="9613861" cy="1080938"/>
          </a:xfrm>
        </p:spPr>
        <p:txBody>
          <a:bodyPr/>
          <a:lstStyle/>
          <a:p>
            <a:r>
              <a:rPr lang="en-US" dirty="0"/>
              <a:t>Nearest Neighbors Classification Model</a:t>
            </a:r>
            <a:br>
              <a:rPr lang="en-US" dirty="0"/>
            </a:br>
            <a:endParaRPr lang="en-US" dirty="0"/>
          </a:p>
        </p:txBody>
      </p:sp>
      <p:sp>
        <p:nvSpPr>
          <p:cNvPr id="3" name="Content Placeholder 2">
            <a:extLst>
              <a:ext uri="{FF2B5EF4-FFF2-40B4-BE49-F238E27FC236}">
                <a16:creationId xmlns:a16="http://schemas.microsoft.com/office/drawing/2014/main" id="{86A10D38-AF64-45FA-B238-B8CE8E52FEC5}"/>
              </a:ext>
            </a:extLst>
          </p:cNvPr>
          <p:cNvSpPr>
            <a:spLocks noGrp="1"/>
          </p:cNvSpPr>
          <p:nvPr>
            <p:ph idx="1"/>
          </p:nvPr>
        </p:nvSpPr>
        <p:spPr>
          <a:xfrm>
            <a:off x="680321" y="2151520"/>
            <a:ext cx="9613861" cy="4521127"/>
          </a:xfrm>
        </p:spPr>
        <p:txBody>
          <a:bodyPr>
            <a:normAutofit/>
          </a:bodyPr>
          <a:lstStyle/>
          <a:p>
            <a:pPr>
              <a:lnSpc>
                <a:spcPct val="150000"/>
              </a:lnSpc>
            </a:pPr>
            <a:r>
              <a:rPr lang="en-US" dirty="0"/>
              <a:t>Using the “K Nearest Neighbors” classification algorithm with a cleaned large dataset was difficult hence I selected a relatively small portion of the dataset for finding the optimal “k” value and split that into training and testing data. </a:t>
            </a:r>
          </a:p>
          <a:p>
            <a:pPr>
              <a:lnSpc>
                <a:spcPct val="150000"/>
              </a:lnSpc>
            </a:pPr>
            <a:r>
              <a:rPr lang="en-US" dirty="0"/>
              <a:t>Finally after finding out the optimal value for “k”, I fitted the model with the whole original training data and that “k” value.</a:t>
            </a:r>
          </a:p>
        </p:txBody>
      </p:sp>
    </p:spTree>
    <p:extLst>
      <p:ext uri="{BB962C8B-B14F-4D97-AF65-F5344CB8AC3E}">
        <p14:creationId xmlns:p14="http://schemas.microsoft.com/office/powerpoint/2010/main" val="28619657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24A610-D01A-4EE4-AD58-64C4D0F10AFC}"/>
              </a:ext>
            </a:extLst>
          </p:cNvPr>
          <p:cNvSpPr>
            <a:spLocks noGrp="1"/>
          </p:cNvSpPr>
          <p:nvPr>
            <p:ph type="title"/>
          </p:nvPr>
        </p:nvSpPr>
        <p:spPr>
          <a:xfrm>
            <a:off x="624365" y="1086860"/>
            <a:ext cx="9613861" cy="1080938"/>
          </a:xfrm>
        </p:spPr>
        <p:txBody>
          <a:bodyPr/>
          <a:lstStyle/>
          <a:p>
            <a:r>
              <a:rPr lang="en-US" dirty="0"/>
              <a:t>Decision Tree Classification Model</a:t>
            </a:r>
            <a:br>
              <a:rPr lang="en-US" dirty="0"/>
            </a:br>
            <a:endParaRPr lang="en-US" dirty="0"/>
          </a:p>
        </p:txBody>
      </p:sp>
      <p:sp>
        <p:nvSpPr>
          <p:cNvPr id="3" name="Content Placeholder 2">
            <a:extLst>
              <a:ext uri="{FF2B5EF4-FFF2-40B4-BE49-F238E27FC236}">
                <a16:creationId xmlns:a16="http://schemas.microsoft.com/office/drawing/2014/main" id="{9E507AA0-EAD2-45AF-9215-5E1E9655702B}"/>
              </a:ext>
            </a:extLst>
          </p:cNvPr>
          <p:cNvSpPr>
            <a:spLocks noGrp="1"/>
          </p:cNvSpPr>
          <p:nvPr>
            <p:ph idx="1"/>
          </p:nvPr>
        </p:nvSpPr>
        <p:spPr>
          <a:xfrm>
            <a:off x="568411" y="2075935"/>
            <a:ext cx="9725771" cy="4967416"/>
          </a:xfrm>
        </p:spPr>
        <p:txBody>
          <a:bodyPr>
            <a:normAutofit/>
          </a:bodyPr>
          <a:lstStyle/>
          <a:p>
            <a:pPr marL="0" indent="0">
              <a:buNone/>
            </a:pPr>
            <a:r>
              <a:rPr lang="en-US" sz="3200" dirty="0"/>
              <a:t>The training data was split into training and testing data and the mean accuracy was found out for a few values of “</a:t>
            </a:r>
            <a:r>
              <a:rPr lang="en-US" sz="3200" dirty="0" err="1"/>
              <a:t>max_depth</a:t>
            </a:r>
            <a:r>
              <a:rPr lang="en-US" sz="3200" dirty="0"/>
              <a:t>” by repeatedly training and testing the decision tree model with varied “</a:t>
            </a:r>
            <a:r>
              <a:rPr lang="en-US" sz="3200" dirty="0" err="1"/>
              <a:t>max_depth</a:t>
            </a:r>
            <a:r>
              <a:rPr lang="en-US" sz="3200" dirty="0"/>
              <a:t>” values.</a:t>
            </a:r>
          </a:p>
          <a:p>
            <a:pPr marL="0" indent="0">
              <a:buNone/>
            </a:pPr>
            <a:r>
              <a:rPr lang="en-US" sz="3200" dirty="0"/>
              <a:t>The “</a:t>
            </a:r>
            <a:r>
              <a:rPr lang="en-US" sz="3200" dirty="0" err="1"/>
              <a:t>max_depth</a:t>
            </a:r>
            <a:r>
              <a:rPr lang="en-US" sz="3200" dirty="0"/>
              <a:t>” value which gave out the maximum mean accuracy was selected to feed the final model with. Finally  a decision tree model was fitted with the whole original training data and the best “</a:t>
            </a:r>
            <a:r>
              <a:rPr lang="en-US" sz="3200" dirty="0" err="1"/>
              <a:t>max_depth</a:t>
            </a:r>
            <a:r>
              <a:rPr lang="en-US" sz="3200" dirty="0"/>
              <a:t>” value.</a:t>
            </a:r>
          </a:p>
        </p:txBody>
      </p:sp>
    </p:spTree>
    <p:extLst>
      <p:ext uri="{BB962C8B-B14F-4D97-AF65-F5344CB8AC3E}">
        <p14:creationId xmlns:p14="http://schemas.microsoft.com/office/powerpoint/2010/main" val="30202425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226E52-110A-485D-8F4B-290411F54B75}"/>
              </a:ext>
            </a:extLst>
          </p:cNvPr>
          <p:cNvSpPr>
            <a:spLocks noGrp="1"/>
          </p:cNvSpPr>
          <p:nvPr>
            <p:ph type="title"/>
          </p:nvPr>
        </p:nvSpPr>
        <p:spPr/>
        <p:txBody>
          <a:bodyPr/>
          <a:lstStyle/>
          <a:p>
            <a:r>
              <a:rPr lang="en-US" dirty="0"/>
              <a:t>Logistic Regression Classification Model</a:t>
            </a:r>
            <a:br>
              <a:rPr lang="en-US" dirty="0"/>
            </a:br>
            <a:endParaRPr lang="en-US" dirty="0"/>
          </a:p>
        </p:txBody>
      </p:sp>
      <p:sp>
        <p:nvSpPr>
          <p:cNvPr id="3" name="Content Placeholder 2">
            <a:extLst>
              <a:ext uri="{FF2B5EF4-FFF2-40B4-BE49-F238E27FC236}">
                <a16:creationId xmlns:a16="http://schemas.microsoft.com/office/drawing/2014/main" id="{9B5242FA-003F-472E-AEDA-EA26665EEA68}"/>
              </a:ext>
            </a:extLst>
          </p:cNvPr>
          <p:cNvSpPr>
            <a:spLocks noGrp="1"/>
          </p:cNvSpPr>
          <p:nvPr>
            <p:ph idx="1"/>
          </p:nvPr>
        </p:nvSpPr>
        <p:spPr/>
        <p:txBody>
          <a:bodyPr/>
          <a:lstStyle/>
          <a:p>
            <a:pPr>
              <a:lnSpc>
                <a:spcPct val="150000"/>
              </a:lnSpc>
            </a:pPr>
            <a:r>
              <a:rPr lang="en-US" dirty="0"/>
              <a:t>As a solution to this problem the same path as  the “K Nearest Neighbors” model  was used and found out the best solver.</a:t>
            </a:r>
          </a:p>
          <a:p>
            <a:pPr>
              <a:lnSpc>
                <a:spcPct val="150000"/>
              </a:lnSpc>
            </a:pPr>
            <a:r>
              <a:rPr lang="en-US" dirty="0"/>
              <a:t> Finally  a logistic regression model was fitted with the whole original training dataset.</a:t>
            </a:r>
          </a:p>
          <a:p>
            <a:endParaRPr lang="en-US" dirty="0"/>
          </a:p>
        </p:txBody>
      </p:sp>
    </p:spTree>
    <p:extLst>
      <p:ext uri="{BB962C8B-B14F-4D97-AF65-F5344CB8AC3E}">
        <p14:creationId xmlns:p14="http://schemas.microsoft.com/office/powerpoint/2010/main" val="30610524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DEEFFA4-C957-40B5-A145-C70EBEA3F702}"/>
              </a:ext>
            </a:extLst>
          </p:cNvPr>
          <p:cNvPicPr>
            <a:picLocks noGrp="1" noChangeAspect="1"/>
          </p:cNvPicPr>
          <p:nvPr>
            <p:ph idx="4294967295"/>
          </p:nvPr>
        </p:nvPicPr>
        <p:blipFill>
          <a:blip r:embed="rId2"/>
          <a:stretch>
            <a:fillRect/>
          </a:stretch>
        </p:blipFill>
        <p:spPr>
          <a:xfrm>
            <a:off x="593124" y="428604"/>
            <a:ext cx="10515600" cy="6000792"/>
          </a:xfrm>
        </p:spPr>
      </p:pic>
    </p:spTree>
    <p:extLst>
      <p:ext uri="{BB962C8B-B14F-4D97-AF65-F5344CB8AC3E}">
        <p14:creationId xmlns:p14="http://schemas.microsoft.com/office/powerpoint/2010/main" val="40992217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A7518-14FE-46DB-B24F-407C15739B11}"/>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DB14F03F-DB71-41F9-AED1-E4CBC214DA61}"/>
              </a:ext>
            </a:extLst>
          </p:cNvPr>
          <p:cNvSpPr>
            <a:spLocks noGrp="1"/>
          </p:cNvSpPr>
          <p:nvPr>
            <p:ph idx="1"/>
          </p:nvPr>
        </p:nvSpPr>
        <p:spPr>
          <a:xfrm>
            <a:off x="148281" y="2065024"/>
            <a:ext cx="10145901" cy="4521127"/>
          </a:xfrm>
        </p:spPr>
        <p:txBody>
          <a:bodyPr>
            <a:normAutofit fontScale="92500"/>
          </a:bodyPr>
          <a:lstStyle/>
          <a:p>
            <a:r>
              <a:rPr lang="en-US" dirty="0"/>
              <a:t>I </a:t>
            </a:r>
            <a:r>
              <a:rPr lang="en-US" dirty="0" err="1"/>
              <a:t>analysed</a:t>
            </a:r>
            <a:r>
              <a:rPr lang="en-US" dirty="0"/>
              <a:t> the relationship between the severity of car accidents and the data from SDOT on the factors that describe the overall situation the accidents took place in.</a:t>
            </a:r>
          </a:p>
          <a:p>
            <a:r>
              <a:rPr lang="en-US" dirty="0"/>
              <a:t> I identified vehicle count, person count, pedestrian count, weather condition, road condition, light condition among the most important features that determines the severity of a car accident. </a:t>
            </a:r>
          </a:p>
          <a:p>
            <a:r>
              <a:rPr lang="en-US" dirty="0"/>
              <a:t>I built three classification models to predict the severity of future car accidents and suggested to take the model with highest accuracy for implementation. </a:t>
            </a:r>
          </a:p>
          <a:p>
            <a:r>
              <a:rPr lang="en-US" dirty="0"/>
              <a:t>These models can be very useful helping the hospitals and police department to be better prepared for accidents in advance. For example, it can help the hospitals to maintain sufficient amount of staffs and doctors on a given day to handle such situations efficiently, etc.</a:t>
            </a:r>
          </a:p>
        </p:txBody>
      </p:sp>
    </p:spTree>
    <p:extLst>
      <p:ext uri="{BB962C8B-B14F-4D97-AF65-F5344CB8AC3E}">
        <p14:creationId xmlns:p14="http://schemas.microsoft.com/office/powerpoint/2010/main" val="1102994158"/>
      </p:ext>
    </p:extLst>
  </p:cSld>
  <p:clrMapOvr>
    <a:masterClrMapping/>
  </p:clrMapOvr>
</p:sld>
</file>

<file path=ppt/theme/theme1.xml><?xml version="1.0" encoding="utf-8"?>
<a:theme xmlns:a="http://schemas.openxmlformats.org/drawingml/2006/main" name="Berlin">
  <a:themeElements>
    <a:clrScheme name="Berlin">
      <a:dk1>
        <a:sysClr val="windowText" lastClr="000000"/>
      </a:dk1>
      <a:lt1>
        <a:sysClr val="window" lastClr="FFFFFF"/>
      </a:lt1>
      <a:dk2>
        <a:srgbClr val="9D360E"/>
      </a:dk2>
      <a:lt2>
        <a:srgbClr val="E7E6E6"/>
      </a:lt2>
      <a:accent1>
        <a:srgbClr val="F09415"/>
      </a:accent1>
      <a:accent2>
        <a:srgbClr val="C1B56B"/>
      </a:accent2>
      <a:accent3>
        <a:srgbClr val="4BAF73"/>
      </a:accent3>
      <a:accent4>
        <a:srgbClr val="5AA6C0"/>
      </a:accent4>
      <a:accent5>
        <a:srgbClr val="D17DF9"/>
      </a:accent5>
      <a:accent6>
        <a:srgbClr val="FA7E5C"/>
      </a:accent6>
      <a:hlink>
        <a:srgbClr val="FFAE3E"/>
      </a:hlink>
      <a:folHlink>
        <a:srgbClr val="FCC77E"/>
      </a:folHlink>
    </a:clrScheme>
    <a:fontScheme name="Berlin">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270000"/>
                <a:satMod val="200000"/>
                <a:lumMod val="128000"/>
              </a:schemeClr>
            </a:gs>
            <a:gs pos="50000">
              <a:schemeClr val="phClr">
                <a:shade val="100000"/>
                <a:hueMod val="100000"/>
                <a:satMod val="110000"/>
                <a:lumMod val="130000"/>
              </a:schemeClr>
            </a:gs>
            <a:gs pos="100000">
              <a:schemeClr val="phClr">
                <a:shade val="78000"/>
                <a:hueMod val="44000"/>
                <a:satMod val="200000"/>
                <a:lumMod val="6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C0CBE056-4EF4-4D92-969E-947779DA7AAA}"/>
    </a:ext>
  </a:extLst>
</a:theme>
</file>

<file path=docProps/app.xml><?xml version="1.0" encoding="utf-8"?>
<Properties xmlns="http://schemas.openxmlformats.org/officeDocument/2006/extended-properties" xmlns:vt="http://schemas.openxmlformats.org/officeDocument/2006/docPropsVTypes">
  <Template>TM04033917[[fn=Berlin]]</Template>
  <TotalTime>107</TotalTime>
  <Words>1027</Words>
  <Application>Microsoft Office PowerPoint</Application>
  <PresentationFormat>Widescreen</PresentationFormat>
  <Paragraphs>42</Paragraphs>
  <Slides>13</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Trebuchet MS</vt:lpstr>
      <vt:lpstr>Berlin</vt:lpstr>
      <vt:lpstr>            Seattle Car Crash Severity  Prediction                        </vt:lpstr>
      <vt:lpstr>           BACKGROUND</vt:lpstr>
      <vt:lpstr>PROBLEM &amp; TARGET AUDIENCE</vt:lpstr>
      <vt:lpstr>Data Sources</vt:lpstr>
      <vt:lpstr>Data  Cleaning</vt:lpstr>
      <vt:lpstr>Data  Cleaning cont.</vt:lpstr>
      <vt:lpstr>Feature Selection </vt:lpstr>
      <vt:lpstr>PREDICTIVE MODELLING</vt:lpstr>
      <vt:lpstr>Nearest Neighbors Classification Model </vt:lpstr>
      <vt:lpstr>Decision Tree Classification Model </vt:lpstr>
      <vt:lpstr>Logistic Regression Classification Model </vt:lpstr>
      <vt:lpstr>PowerPoint Presentation</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Seattle Car Crash Severity  Prediction</dc:title>
  <dc:creator>Christiana Kukua Fali Morrison</dc:creator>
  <cp:lastModifiedBy>Christiana Kukua Fali Morrison</cp:lastModifiedBy>
  <cp:revision>11</cp:revision>
  <dcterms:created xsi:type="dcterms:W3CDTF">2020-10-11T15:29:33Z</dcterms:created>
  <dcterms:modified xsi:type="dcterms:W3CDTF">2020-10-11T17:16:55Z</dcterms:modified>
</cp:coreProperties>
</file>